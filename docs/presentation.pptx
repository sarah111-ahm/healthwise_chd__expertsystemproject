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1097280"/>
            <a:ext cx="822960" cy="82296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0" y="11155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HealthWise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</a:rPr>
              <a:t>CHD Fuzzy Expert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3749040"/>
            <a:ext cx="3931920" cy="2743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8862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C0"/>
                </a:solidFill>
              </a:rPr>
              <a:t>Coronary Heart Disease Diagnosis using Fuzzy Logic,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A4C0"/>
                </a:solidFill>
              </a:rPr>
              <a:t>Linguistic Hedges &amp; Neuro-Fuzzy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4C0"/>
                </a:solidFill>
              </a:rPr>
              <a:t>Dr. Mohammed A. Altahrawi  ·  UCAS 2026  ·  AI Engineering Final Project + Hackathon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5257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Fuzzy Logic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5257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Hedges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5257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0D48A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48A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5257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ANFIS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healthwise-chd.vercel.app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CHD Diagnosis Needs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❤️ 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CHD is the #1 cause of death worldwide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Diagnosis involves uncertainty &amp; imprecision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Requires specialist knowledge not always available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Traditional rule-based systems are brittle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Linguistic descriptions don't map to crisp values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0584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10D48A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D48A"/>
                </a:solidFill>
              </a:rPr>
              <a:t>💚 Our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Fuzzy logic models gradual, human-like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6-rule Mamdani system (Table 2) + 9 extended rules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Linguistic hedges: 'Very Sick', 'Somewhat Healthy'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Sensitivity analysis identifies key risk factors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</a:rPr>
              <a:t>ANFIS neural network learns and improves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Patient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Inputs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1691640"/>
            <a:ext cx="548640" cy="0"/>
          </a:xfrm>
          <a:prstGeom prst="line">
            <a:avLst/>
          </a:prstGeom>
          <a:noFill/>
          <a:ln w="19050">
            <a:solidFill>
              <a:srgbClr val="8BA4C0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37744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〰️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9BD5"/>
                </a:solidFill>
              </a:rPr>
              <a:t>Fuzzification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9BD5"/>
                </a:solidFill>
              </a:rPr>
              <a:t>MFs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691640"/>
            <a:ext cx="548640" cy="0"/>
          </a:xfrm>
          <a:prstGeom prst="line">
            <a:avLst/>
          </a:prstGeom>
          <a:noFill/>
          <a:ln w="19050">
            <a:solidFill>
              <a:srgbClr val="8BA4C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48056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48640" cy="0"/>
          </a:xfrm>
          <a:prstGeom prst="line">
            <a:avLst/>
          </a:prstGeom>
          <a:noFill/>
          <a:ln w="19050">
            <a:solidFill>
              <a:srgbClr val="8BA4C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58368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Aggregation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(max)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691640"/>
            <a:ext cx="548640" cy="0"/>
          </a:xfrm>
          <a:prstGeom prst="line">
            <a:avLst/>
          </a:prstGeom>
          <a:noFill/>
          <a:ln w="19050">
            <a:solidFill>
              <a:srgbClr val="8BA4C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68680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D48A"/>
                </a:solidFill>
              </a:rPr>
              <a:t>Defuzzification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D48A"/>
                </a:solidFill>
              </a:rPr>
              <a:t>COG/Sugeno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69880" y="1691640"/>
            <a:ext cx="548640" cy="0"/>
          </a:xfrm>
          <a:prstGeom prst="line">
            <a:avLst/>
          </a:prstGeom>
          <a:noFill/>
          <a:ln w="19050">
            <a:solidFill>
              <a:srgbClr val="8BA4C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789920" y="10058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8992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CHD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Diagnosis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Inputs: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00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Blood Pressure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0332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03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Cholesterol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0624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Heart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0916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Age  •  Smoking  •  Diabetes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Rule Base: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321868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Rule 1: BP=Low ∧ Chol=Low ∧ HR=Slow → Healthy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7216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Rule 4: BP=Med ∧ Chol=High ∧ HR=Slow → Middle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42245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Rule 6: BP=High ∧ Chol=High ∧ HR=Fast → Sick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47274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+ 9 extended rules (Age, Smoking, Diabetes)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D48A"/>
                </a:solidFill>
              </a:rPr>
              <a:t>Outputs: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778240" y="3200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0D48A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D48A"/>
                </a:solidFill>
              </a:rPr>
              <a:t>💚 Healthy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778240" y="3840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🟡 Middle Risk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778240" y="44805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4D6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D"/>
                </a:solidFill>
              </a:rPr>
              <a:t>❤️ Sick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Fuzzification &amp; Membership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What is Fuzzification?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AF4"/>
                </a:solidFill>
              </a:rPr>
              <a:t>Converts crisp input values into fuzzy degrees (0–1).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AF4"/>
                </a:solidFill>
              </a:rPr>
              <a:t>Example: BP = 145 mmHg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AF4"/>
                </a:solidFill>
              </a:rPr>
              <a:t>→ Low:  0%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AF4"/>
                </a:solidFill>
              </a:rPr>
              <a:t>→ Medium: 100%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AF4"/>
                </a:solidFill>
              </a:rPr>
              <a:t>→ High: 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Variable Ranges (Table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BP 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35661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100–130 mmHg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822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BP Medium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3822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120–170 mmHg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40782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BP 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40782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160–200 mmHg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3342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Chol 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43342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100–200 mg/dL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Chol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180–280 mg/dL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HR Slow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48463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50–80 bpm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51023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HR Moderate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51023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70–100 bpm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53583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HR Fast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53583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90–200 bpm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561441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D48A"/>
                </a:solidFill>
              </a:rPr>
              <a:t>Healthy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561441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0.0–1.5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587044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Middle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587044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1.3–2.7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126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Sick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6126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2.5–4.0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914400"/>
            <a:ext cx="6858000" cy="2606040"/>
          </a:xfrm>
          <a:prstGeom prst="roundRect">
            <a:avLst>
              <a:gd name="adj" fmla="val 350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0058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Trapezoidal MF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0" y="14630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 = 0 if x≤a or x≥d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(x−a)/(b−a) if a&lt;x&lt;b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if b≤x≤c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(d−x)/(d−c) if c&lt;x&lt;d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749040"/>
            <a:ext cx="6858000" cy="2606040"/>
          </a:xfrm>
          <a:prstGeom prst="roundRect">
            <a:avLst>
              <a:gd name="adj" fmla="val 350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840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Triangular MF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0" y="429768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 = 0 if x≤a or x≥c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(x−a)/(b−a) if a&lt;x≤b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(c−x)/(c−b) if b&lt;x&lt;c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0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— Rule Base (Table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164592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0D48A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6459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= min(μ₁, μ₂, μ₃)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6 Core Rules (BP × Chol × HR)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5720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#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371600"/>
            <a:ext cx="137160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71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Blood Pressure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371600"/>
            <a:ext cx="137160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371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Cholesterol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137160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371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Heart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137160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371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CHD Level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719072"/>
            <a:ext cx="4572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19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1719072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1719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1719072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0" y="1719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1719072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1719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Slow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719072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719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48A"/>
                </a:solidFill>
              </a:rPr>
              <a:t>Healthy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1719072"/>
            <a:ext cx="9144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1719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10d48a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139696"/>
            <a:ext cx="4572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1396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2139696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2139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139696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2139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49040" y="2139696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139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Moderate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12080" y="2139696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2139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48A"/>
                </a:solidFill>
              </a:rPr>
              <a:t>Healthy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2139696"/>
            <a:ext cx="9144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21396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10d48a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2560320"/>
            <a:ext cx="4572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Medium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77440" y="2560320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46" name="Text 44"/>
          <p:cNvSpPr/>
          <p:nvPr/>
        </p:nvSpPr>
        <p:spPr>
          <a:xfrm>
            <a:off x="237744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49040" y="2560320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48" name="Text 46"/>
          <p:cNvSpPr/>
          <p:nvPr/>
        </p:nvSpPr>
        <p:spPr>
          <a:xfrm>
            <a:off x="374904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Moderate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12080" y="2560320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521208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Middle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2560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f5a623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980944"/>
            <a:ext cx="4572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29809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4400" y="2980944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Medium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77440" y="2980944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58" name="Text 56"/>
          <p:cNvSpPr/>
          <p:nvPr/>
        </p:nvSpPr>
        <p:spPr>
          <a:xfrm>
            <a:off x="237744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High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9040" y="2980944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Slow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12080" y="2980944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521208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Middle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14400" y="2980944"/>
            <a:ext cx="9144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64" name="Text 62"/>
          <p:cNvSpPr/>
          <p:nvPr/>
        </p:nvSpPr>
        <p:spPr>
          <a:xfrm>
            <a:off x="0" y="29809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f5a623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3401568"/>
            <a:ext cx="4572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4400" y="3401568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68" name="Text 66"/>
          <p:cNvSpPr/>
          <p:nvPr/>
        </p:nvSpPr>
        <p:spPr>
          <a:xfrm>
            <a:off x="91440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High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377440" y="3401568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70" name="Text 68"/>
          <p:cNvSpPr/>
          <p:nvPr/>
        </p:nvSpPr>
        <p:spPr>
          <a:xfrm>
            <a:off x="237744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Low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749040" y="3401568"/>
            <a:ext cx="13716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72" name="Text 70"/>
          <p:cNvSpPr/>
          <p:nvPr/>
        </p:nvSpPr>
        <p:spPr>
          <a:xfrm>
            <a:off x="374904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Moderate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212080" y="3401568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4" name="Text 72"/>
          <p:cNvSpPr/>
          <p:nvPr/>
        </p:nvSpPr>
        <p:spPr>
          <a:xfrm>
            <a:off x="521208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</a:rPr>
              <a:t>Sick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14400" y="3401568"/>
            <a:ext cx="91440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76" name="Text 74"/>
          <p:cNvSpPr/>
          <p:nvPr/>
        </p:nvSpPr>
        <p:spPr>
          <a:xfrm>
            <a:off x="0" y="3401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ff4d6d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" y="3822192"/>
            <a:ext cx="4572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3822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14400" y="3822192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80" name="Text 78"/>
          <p:cNvSpPr/>
          <p:nvPr/>
        </p:nvSpPr>
        <p:spPr>
          <a:xfrm>
            <a:off x="914400" y="3822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High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377440" y="3822192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82" name="Text 80"/>
          <p:cNvSpPr/>
          <p:nvPr/>
        </p:nvSpPr>
        <p:spPr>
          <a:xfrm>
            <a:off x="2377440" y="3822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High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749040" y="3822192"/>
            <a:ext cx="13716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84" name="Text 82"/>
          <p:cNvSpPr/>
          <p:nvPr/>
        </p:nvSpPr>
        <p:spPr>
          <a:xfrm>
            <a:off x="3749040" y="3822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Fast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212080" y="3822192"/>
            <a:ext cx="1371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6" name="Text 84"/>
          <p:cNvSpPr/>
          <p:nvPr/>
        </p:nvSpPr>
        <p:spPr>
          <a:xfrm>
            <a:off x="5212080" y="3822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</a:rPr>
              <a:t>Sick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14400" y="3822192"/>
            <a:ext cx="91440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88" name="Text 86"/>
          <p:cNvSpPr/>
          <p:nvPr/>
        </p:nvSpPr>
        <p:spPr>
          <a:xfrm>
            <a:off x="0" y="3822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</a:rPr>
              <a:t>ff4d6d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766560" y="9601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9 Extended Rules (Age × Smoking × Diabetes)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6766560" y="1371600"/>
            <a:ext cx="64008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91" name="Text 89"/>
          <p:cNvSpPr/>
          <p:nvPr/>
        </p:nvSpPr>
        <p:spPr>
          <a:xfrm>
            <a:off x="6766560" y="13716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#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98080" y="1371600"/>
            <a:ext cx="128016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93" name="Text 91"/>
          <p:cNvSpPr/>
          <p:nvPr/>
        </p:nvSpPr>
        <p:spPr>
          <a:xfrm>
            <a:off x="7498080" y="1371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Age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869680" y="1371600"/>
            <a:ext cx="164592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95" name="Text 93"/>
          <p:cNvSpPr/>
          <p:nvPr/>
        </p:nvSpPr>
        <p:spPr>
          <a:xfrm>
            <a:off x="8869680" y="1371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Smoking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607040" y="1371600"/>
            <a:ext cx="128016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97" name="Text 95"/>
          <p:cNvSpPr/>
          <p:nvPr/>
        </p:nvSpPr>
        <p:spPr>
          <a:xfrm>
            <a:off x="10607040" y="1371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Diabetes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1978640" y="1371600"/>
            <a:ext cx="1188720" cy="310896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99" name="Text 97"/>
          <p:cNvSpPr/>
          <p:nvPr/>
        </p:nvSpPr>
        <p:spPr>
          <a:xfrm>
            <a:off x="11978640" y="13716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CHD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66560" y="1719072"/>
            <a:ext cx="64008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01" name="Text 99"/>
          <p:cNvSpPr/>
          <p:nvPr/>
        </p:nvSpPr>
        <p:spPr>
          <a:xfrm>
            <a:off x="6766560" y="1719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7–8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498080" y="1719072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03" name="Text 101"/>
          <p:cNvSpPr/>
          <p:nvPr/>
        </p:nvSpPr>
        <p:spPr>
          <a:xfrm>
            <a:off x="749808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Young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869680" y="1719072"/>
            <a:ext cx="164592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05" name="Text 103"/>
          <p:cNvSpPr/>
          <p:nvPr/>
        </p:nvSpPr>
        <p:spPr>
          <a:xfrm>
            <a:off x="8869680" y="17190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None/Light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0607040" y="1719072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07" name="Text 105"/>
          <p:cNvSpPr/>
          <p:nvPr/>
        </p:nvSpPr>
        <p:spPr>
          <a:xfrm>
            <a:off x="1060704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No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1978640" y="1719072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9" name="Text 107"/>
          <p:cNvSpPr/>
          <p:nvPr/>
        </p:nvSpPr>
        <p:spPr>
          <a:xfrm>
            <a:off x="11978640" y="17190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D48A"/>
                </a:solidFill>
              </a:rPr>
              <a:t>Healthy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766560" y="2139696"/>
            <a:ext cx="64008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11" name="Text 109"/>
          <p:cNvSpPr/>
          <p:nvPr/>
        </p:nvSpPr>
        <p:spPr>
          <a:xfrm>
            <a:off x="6766560" y="21396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9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498080" y="2139696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13" name="Text 111"/>
          <p:cNvSpPr/>
          <p:nvPr/>
        </p:nvSpPr>
        <p:spPr>
          <a:xfrm>
            <a:off x="7498080" y="2139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Middle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869680" y="2139696"/>
            <a:ext cx="164592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15" name="Text 113"/>
          <p:cNvSpPr/>
          <p:nvPr/>
        </p:nvSpPr>
        <p:spPr>
          <a:xfrm>
            <a:off x="8869680" y="21396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None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0607040" y="2139696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17" name="Text 115"/>
          <p:cNvSpPr/>
          <p:nvPr/>
        </p:nvSpPr>
        <p:spPr>
          <a:xfrm>
            <a:off x="10607040" y="2139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No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11978640" y="2139696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9" name="Text 117"/>
          <p:cNvSpPr/>
          <p:nvPr/>
        </p:nvSpPr>
        <p:spPr>
          <a:xfrm>
            <a:off x="11978640" y="2139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D48A"/>
                </a:solidFill>
              </a:rPr>
              <a:t>Healthy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6766560" y="2560320"/>
            <a:ext cx="64008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21" name="Text 119"/>
          <p:cNvSpPr/>
          <p:nvPr/>
        </p:nvSpPr>
        <p:spPr>
          <a:xfrm>
            <a:off x="676656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10–11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498080" y="2560320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23" name="Text 121"/>
          <p:cNvSpPr/>
          <p:nvPr/>
        </p:nvSpPr>
        <p:spPr>
          <a:xfrm>
            <a:off x="749808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Middle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869680" y="2560320"/>
            <a:ext cx="164592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25" name="Text 123"/>
          <p:cNvSpPr/>
          <p:nvPr/>
        </p:nvSpPr>
        <p:spPr>
          <a:xfrm>
            <a:off x="88696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Light/Heavy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0607040" y="2560320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27" name="Text 125"/>
          <p:cNvSpPr/>
          <p:nvPr/>
        </p:nvSpPr>
        <p:spPr>
          <a:xfrm>
            <a:off x="1060704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Pre/None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1978640" y="2560320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9" name="Text 127"/>
          <p:cNvSpPr/>
          <p:nvPr/>
        </p:nvSpPr>
        <p:spPr>
          <a:xfrm>
            <a:off x="1197864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Middle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766560" y="2980944"/>
            <a:ext cx="64008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31" name="Text 129"/>
          <p:cNvSpPr/>
          <p:nvPr/>
        </p:nvSpPr>
        <p:spPr>
          <a:xfrm>
            <a:off x="6766560" y="29809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12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7498080" y="2980944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33" name="Text 131"/>
          <p:cNvSpPr/>
          <p:nvPr/>
        </p:nvSpPr>
        <p:spPr>
          <a:xfrm>
            <a:off x="7498080" y="29809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Middle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8869680" y="2980944"/>
            <a:ext cx="164592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35" name="Text 133"/>
          <p:cNvSpPr/>
          <p:nvPr/>
        </p:nvSpPr>
        <p:spPr>
          <a:xfrm>
            <a:off x="8869680" y="29809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Heavy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10607040" y="2980944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37" name="Text 135"/>
          <p:cNvSpPr/>
          <p:nvPr/>
        </p:nvSpPr>
        <p:spPr>
          <a:xfrm>
            <a:off x="10607040" y="29809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Pre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1978640" y="2980944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9" name="Text 137"/>
          <p:cNvSpPr/>
          <p:nvPr/>
        </p:nvSpPr>
        <p:spPr>
          <a:xfrm>
            <a:off x="11978640" y="29809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Sick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6766560" y="3401568"/>
            <a:ext cx="64008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41" name="Text 139"/>
          <p:cNvSpPr/>
          <p:nvPr/>
        </p:nvSpPr>
        <p:spPr>
          <a:xfrm>
            <a:off x="6766560" y="3401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13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7498080" y="3401568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43" name="Text 141"/>
          <p:cNvSpPr/>
          <p:nvPr/>
        </p:nvSpPr>
        <p:spPr>
          <a:xfrm>
            <a:off x="7498080" y="3401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Old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8869680" y="3401568"/>
            <a:ext cx="164592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45" name="Text 143"/>
          <p:cNvSpPr/>
          <p:nvPr/>
        </p:nvSpPr>
        <p:spPr>
          <a:xfrm>
            <a:off x="8869680" y="3401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None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10607040" y="3401568"/>
            <a:ext cx="1280160" cy="365760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147" name="Text 145"/>
          <p:cNvSpPr/>
          <p:nvPr/>
        </p:nvSpPr>
        <p:spPr>
          <a:xfrm>
            <a:off x="10607040" y="3401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Pre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11978640" y="3401568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9" name="Text 147"/>
          <p:cNvSpPr/>
          <p:nvPr/>
        </p:nvSpPr>
        <p:spPr>
          <a:xfrm>
            <a:off x="11978640" y="34015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Middle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6766560" y="3822192"/>
            <a:ext cx="64008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51" name="Text 149"/>
          <p:cNvSpPr/>
          <p:nvPr/>
        </p:nvSpPr>
        <p:spPr>
          <a:xfrm>
            <a:off x="6766560" y="38221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14–15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7498080" y="3822192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53" name="Text 151"/>
          <p:cNvSpPr/>
          <p:nvPr/>
        </p:nvSpPr>
        <p:spPr>
          <a:xfrm>
            <a:off x="7498080" y="38221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Old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8869680" y="3822192"/>
            <a:ext cx="164592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55" name="Text 153"/>
          <p:cNvSpPr/>
          <p:nvPr/>
        </p:nvSpPr>
        <p:spPr>
          <a:xfrm>
            <a:off x="8869680" y="38221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Light/Heavy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10607040" y="3822192"/>
            <a:ext cx="1280160" cy="365760"/>
          </a:xfrm>
          <a:prstGeom prst="rect">
            <a:avLst/>
          </a:prstGeom>
          <a:solidFill>
            <a:srgbClr val="0A1525"/>
          </a:solidFill>
          <a:ln/>
        </p:spPr>
      </p:sp>
      <p:sp>
        <p:nvSpPr>
          <p:cNvPr id="157" name="Text 155"/>
          <p:cNvSpPr/>
          <p:nvPr/>
        </p:nvSpPr>
        <p:spPr>
          <a:xfrm>
            <a:off x="10607040" y="38221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AF4"/>
                </a:solidFill>
              </a:rPr>
              <a:t>Yes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1978640" y="3822192"/>
            <a:ext cx="118872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9" name="Text 157"/>
          <p:cNvSpPr/>
          <p:nvPr/>
        </p:nvSpPr>
        <p:spPr>
          <a:xfrm>
            <a:off x="11978640" y="3822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Sick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365760" y="457200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48640" y="46451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Firing Strength:  wₖ = AND(μ_BP(bp), μ_Chol(chol), μ_HR(hr))  =  min(μ_BP, μ_Chol, μ_HR)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548640" y="50474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COG: ∫x·μ_agg(x)dx / ∫μ_agg(x)dx    |    Sugeno: Σ(wᵢ·zᵢ) / Σwᵢ  where  z_H=0.75, z_M=2.00, z_S=3.25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Three Preset Patients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49040" cy="548640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25400">
            <a:solidFill>
              <a:srgbClr val="10D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D48A"/>
                </a:solidFill>
              </a:rPr>
              <a:t>Patient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💚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BP: 105 mmHg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614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Chol: 160 mg/dL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HR: 55 bpm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00000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58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COG: 0.6637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2793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Sugeno: 0.750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D48A"/>
                </a:solidFill>
              </a:rPr>
              <a:t>💚 Healthy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577840"/>
            <a:ext cx="3291840" cy="20116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5577840"/>
            <a:ext cx="546199" cy="201168"/>
          </a:xfrm>
          <a:prstGeom prst="rect">
            <a:avLst/>
          </a:prstGeom>
          <a:solidFill>
            <a:srgbClr val="10D48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8247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0"/>
                </a:solidFill>
              </a:rPr>
              <a:t>Risk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0" y="960120"/>
            <a:ext cx="3749040" cy="548640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Patient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8912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🟡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434840" y="22860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BP: 120 mmHg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276148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7614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Chol: 195 mg/dL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323697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HR: 65 bpm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3794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858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COG: 1.5640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80560" y="42793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Sugeno: 1.539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48920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🟡 Middle Risk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26280" y="5577840"/>
            <a:ext cx="3291840" cy="20116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26280" y="5577840"/>
            <a:ext cx="1287109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8247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0"/>
                </a:solidFill>
              </a:rPr>
              <a:t>Risk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0" y="960120"/>
            <a:ext cx="3749040" cy="548640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6D"/>
                </a:solidFill>
              </a:rPr>
              <a:t>Patient 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2104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❤️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8366760" y="22860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BP: 165 mmHg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66760" y="276148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27614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Chol: 186 mg/dL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323697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</a:rPr>
              <a:t>HR: 95 bpm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66760" y="3794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0000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3858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COG: 2.6838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412480" y="42793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Sugeno: 2.857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641080" y="48920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❤️ Sick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458200" y="5577840"/>
            <a:ext cx="3291840" cy="20116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53" name="Shape 51"/>
          <p:cNvSpPr/>
          <p:nvPr/>
        </p:nvSpPr>
        <p:spPr>
          <a:xfrm>
            <a:off x="8458200" y="5577840"/>
            <a:ext cx="2208660" cy="20116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58247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0"/>
                </a:solidFill>
              </a:rPr>
              <a:t>Risk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Hedges — 20 Marks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</a:rPr>
              <a:t>Modifying membership degrees to express nuanced diagnoses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07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None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3075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Original degree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96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4963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Concentration: stricter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85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</a:rPr>
              <a:t>Extremely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6850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High concentration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73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D48A"/>
                </a:solidFill>
              </a:rPr>
              <a:t>Somewhat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303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√μ(x)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87375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Dilation: wider/looser boundary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307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Slightly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μ(x)^1.25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13075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Mild concentration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42316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96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DFF"/>
                </a:solidFill>
              </a:rPr>
              <a:t>Indeed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2926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24963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Emphasises certainty (= Very)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61188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685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</a:rPr>
              <a:t>More or Less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μ(x)^0.5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0" y="36850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Mild dilation (= Somewhat)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62356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687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Patient 3 (BP=165, COG=2.684):   None: 2.684   |   Very: 2.784   |   Somewhat: 2.619   |   Extremely: 2.834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089904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→  Hedges shift the crisp output by ±0.05 to ±0.15. 'Very' makes high-μ zones count more strongly; 'Somewhat' includes more borderline cases.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0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— Which Factor Matters Most?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0D48A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Method: Vary each factor from min→max while keeping others fixed at base values (BP=130, Chol=190, HR=75, Age=45, Smoking=0.5, Glucose=110). Record CHD output range.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Factor Influence Ranking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Blood Pressure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496312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2496312"/>
            <a:ext cx="4489027" cy="2926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423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0" y="2478024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4780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🏆 #1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449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Cholesterol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3118104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118104"/>
            <a:ext cx="394885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04495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Heart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3739896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739896"/>
            <a:ext cx="350181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66674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8853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4361688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4361688"/>
            <a:ext cx="25146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885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910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Diabetes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4983480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2377440" y="4983480"/>
            <a:ext cx="171365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9103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5532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Smoking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5605272"/>
            <a:ext cx="5029200" cy="292608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5605272"/>
            <a:ext cx="145288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55321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603504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💡 Key Insight: Blood Pressure is the most influential factor — a change from 90 to 210 mmHg spans nearly the full CHD risk spectrum (Healthy → Sick).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Neuro-Fuzzy — ANFIS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🧠 ANFIS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Input (6 features)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9BD5"/>
                </a:solidFill>
              </a:rPr>
              <a:t>Hidden Layer 1 (64, tanh)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0545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054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Hidden Layer 2 (32, tanh)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809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809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Hidden Layer 3 (16, tanh)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564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D48A"/>
                </a:solidFill>
              </a:rPr>
              <a:t>Output (CHD Level)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Optimiser: Adam  |  Activation: tanh  |  Early stopping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Trained on 400 synthetic patients (generated by fuzzy oracle)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5669280" cy="3200400"/>
          </a:xfrm>
          <a:prstGeom prst="roundRect">
            <a:avLst>
              <a:gd name="adj" fmla="val 3429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D48A"/>
                </a:solidFill>
              </a:rPr>
              <a:t>📊 Performance Metrics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536192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093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0.9650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R²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1536192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6093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0.0180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782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MSE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679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0.0920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MAE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2606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2679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778240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</a:rPr>
              <a:t>Train Samples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11430000" cy="2194560"/>
          </a:xfrm>
          <a:prstGeom prst="roundRect">
            <a:avLst>
              <a:gd name="adj" fmla="val 5000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Patient Comparison — Fuzzy COG vs ANFIS Prediction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C0"/>
                </a:solidFill>
              </a:rPr>
              <a:t>Patient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4892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C0"/>
                </a:solidFill>
              </a:rPr>
              <a:t>Fuzzy COG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892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C0"/>
                </a:solidFill>
              </a:rPr>
              <a:t>ANFIS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4892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C0"/>
                </a:solidFill>
              </a:rPr>
              <a:t>Δ Diff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92640" y="4892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C0"/>
                </a:solidFill>
              </a:rPr>
              <a:t>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64240" cy="347472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Patient 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3464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0.6637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0.671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692640" y="52760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5276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D48A"/>
                </a:solidFill>
              </a:rPr>
              <a:t>Healthy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641848"/>
            <a:ext cx="11064240" cy="347472"/>
          </a:xfrm>
          <a:prstGeom prst="rect">
            <a:avLst/>
          </a:prstGeom>
          <a:solidFill>
            <a:srgbClr val="0D182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641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Patient 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834640" y="5641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1.5640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5641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1.558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5641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92640" y="566013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5660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Middle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6025896"/>
            <a:ext cx="11064240" cy="347472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6025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</a:rPr>
              <a:t>Patient 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834640" y="6025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2.6838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0" y="6025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2.691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6025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92640" y="604418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2640" y="6044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Sick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🖥️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HTML5 + CSS3 (Dark Theme)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Plotly.js — Interactive Charts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7 Dashboard Tabs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No framework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00584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0972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⚙️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164592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Python 3.11 + Flask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NumPy (fuzzy math)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scikit-learn (ANFIS/MLP)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REST API — 8 endpoints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00584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0972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D48A"/>
                </a:solidFill>
              </a:rPr>
              <a:t>🚀 Deploy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64592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Vercel (Python runtime)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vercel.json configured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requirements.txt ready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1-click deployment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5029200"/>
            <a:ext cx="11430000" cy="1508760"/>
          </a:xfrm>
          <a:prstGeom prst="roundRect">
            <a:avLst>
              <a:gd name="adj" fmla="val 7273"/>
            </a:avLst>
          </a:prstGeom>
          <a:solidFill>
            <a:srgbClr val="0D1829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1023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API Endpoints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/api/diagnose  ·  GET /api/membership/&lt;var&gt;  ·  GET /api/surface3d  ·  GET /api/presets  ·  GET /api/hedge-comparison  ·  POST /api/sensitivity  ·  POST /api/neuro-train  ·  GET /api/rules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Local: python app.py   |   Deploy: vercel --prod   |   Live: healthwise-chd.vercel.app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0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10D48A"/>
          </a:solidFill>
          <a:ln w="12700">
            <a:solidFill>
              <a:srgbClr val="10D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D48A"/>
                </a:solidFill>
              </a:rPr>
              <a:t>✅ What We Achieved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Fuzzification with 7 input variables (5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6 + 9 = 15 rules — Mamdani inference (5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COG + Sugeno defuzzification (5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7 linguistic hedges, full analysis (20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Manual calculations for all 3 patients (10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Interactive 3D Plotly surface (10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Sensitivity analysis (6 factors) (+20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ANFIS neuro-fuzzy R²=0.965 (+20 marks)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Full-stack web app — deployed on Vercel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00584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097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🔮 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572768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Integration with real clinical datasets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Type-2 fuzzy logic for deeper uncertainty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Explainable AI (SHAP) for rule attribution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Mobile app (React Native) for field use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ECG data as additional input variable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Federated learning for privacy-preserving training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</a:rPr>
              <a:t>Multi-disease extension (diabetes, stroke)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6144768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10D48A"/>
          </a:solidFill>
          <a:ln w="19050">
            <a:solidFill>
              <a:srgbClr val="10D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447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D48A"/>
                </a:solidFill>
              </a:rPr>
              <a:t>Thank You!  ·  Questions?  ·  Live Demo: healthwise-chd.vercel.app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HealthWise CHD Expert System</dc:title>
  <dc:subject>PptxGenJS Presentation</dc:subject>
  <dc:creator>PptxGenJS</dc:creator>
  <cp:lastModifiedBy>PptxGenJS</cp:lastModifiedBy>
  <cp:revision>1</cp:revision>
  <dcterms:created xsi:type="dcterms:W3CDTF">2026-03-21T15:04:12Z</dcterms:created>
  <dcterms:modified xsi:type="dcterms:W3CDTF">2026-03-21T15:04:12Z</dcterms:modified>
</cp:coreProperties>
</file>